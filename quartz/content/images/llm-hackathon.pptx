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87582" y="1900175"/>
            <a:ext cx="538061" cy="33903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75801" y="1862504"/>
            <a:ext cx="250260" cy="86642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2541073" y="1937846"/>
            <a:ext cx="0" cy="433705"/>
          </a:xfrm>
          <a:custGeom>
            <a:avLst/>
            <a:gdLst/>
            <a:ahLst/>
            <a:cxnLst/>
            <a:rect l="l" t="t" r="r" b="b"/>
            <a:pathLst>
              <a:path w="0" h="433705">
                <a:moveTo>
                  <a:pt x="0" y="433211"/>
                </a:moveTo>
                <a:lnTo>
                  <a:pt x="0" y="0"/>
                </a:lnTo>
              </a:path>
            </a:pathLst>
          </a:custGeom>
          <a:ln w="9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823661" y="1937846"/>
            <a:ext cx="0" cy="424180"/>
          </a:xfrm>
          <a:custGeom>
            <a:avLst/>
            <a:gdLst/>
            <a:ahLst/>
            <a:cxnLst/>
            <a:rect l="l" t="t" r="r" b="b"/>
            <a:pathLst>
              <a:path w="0" h="424180">
                <a:moveTo>
                  <a:pt x="0" y="423793"/>
                </a:moveTo>
                <a:lnTo>
                  <a:pt x="0" y="0"/>
                </a:lnTo>
              </a:path>
            </a:pathLst>
          </a:custGeom>
          <a:ln w="9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161514" y="1893897"/>
            <a:ext cx="838835" cy="0"/>
          </a:xfrm>
          <a:custGeom>
            <a:avLst/>
            <a:gdLst/>
            <a:ahLst/>
            <a:cxnLst/>
            <a:rect l="l" t="t" r="r" b="b"/>
            <a:pathLst>
              <a:path w="838835" h="0">
                <a:moveTo>
                  <a:pt x="0" y="0"/>
                </a:moveTo>
                <a:lnTo>
                  <a:pt x="838373" y="0"/>
                </a:lnTo>
              </a:path>
            </a:pathLst>
          </a:custGeom>
          <a:ln w="94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164642" y="2207818"/>
            <a:ext cx="835660" cy="0"/>
          </a:xfrm>
          <a:custGeom>
            <a:avLst/>
            <a:gdLst/>
            <a:ahLst/>
            <a:cxnLst/>
            <a:rect l="l" t="t" r="r" b="b"/>
            <a:pathLst>
              <a:path w="835660" h="0">
                <a:moveTo>
                  <a:pt x="0" y="0"/>
                </a:moveTo>
                <a:lnTo>
                  <a:pt x="835245" y="0"/>
                </a:lnTo>
              </a:path>
            </a:pathLst>
          </a:custGeom>
          <a:ln w="94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2550458" y="2367918"/>
            <a:ext cx="1276350" cy="0"/>
          </a:xfrm>
          <a:custGeom>
            <a:avLst/>
            <a:gdLst/>
            <a:ahLst/>
            <a:cxnLst/>
            <a:rect l="l" t="t" r="r" b="b"/>
            <a:pathLst>
              <a:path w="1276350" h="0">
                <a:moveTo>
                  <a:pt x="0" y="0"/>
                </a:moveTo>
                <a:lnTo>
                  <a:pt x="1276330" y="0"/>
                </a:lnTo>
              </a:path>
            </a:pathLst>
          </a:custGeom>
          <a:ln w="94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152129" y="2471513"/>
            <a:ext cx="845185" cy="0"/>
          </a:xfrm>
          <a:custGeom>
            <a:avLst/>
            <a:gdLst/>
            <a:ahLst/>
            <a:cxnLst/>
            <a:rect l="l" t="t" r="r" b="b"/>
            <a:pathLst>
              <a:path w="845185" h="0">
                <a:moveTo>
                  <a:pt x="0" y="0"/>
                </a:moveTo>
                <a:lnTo>
                  <a:pt x="844630" y="0"/>
                </a:lnTo>
              </a:path>
            </a:pathLst>
          </a:custGeom>
          <a:ln w="94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4161514" y="2788573"/>
            <a:ext cx="832485" cy="0"/>
          </a:xfrm>
          <a:custGeom>
            <a:avLst/>
            <a:gdLst/>
            <a:ahLst/>
            <a:cxnLst/>
            <a:rect l="l" t="t" r="r" b="b"/>
            <a:pathLst>
              <a:path w="832485" h="0">
                <a:moveTo>
                  <a:pt x="0" y="0"/>
                </a:moveTo>
                <a:lnTo>
                  <a:pt x="832116" y="0"/>
                </a:lnTo>
              </a:path>
            </a:pathLst>
          </a:custGeom>
          <a:ln w="94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77548" y="959554"/>
            <a:ext cx="9842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50">
                <a:solidFill>
                  <a:srgbClr val="1C1A1D"/>
                </a:solidFill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57989" y="1330527"/>
            <a:ext cx="8382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0">
                <a:solidFill>
                  <a:srgbClr val="0E7BAA"/>
                </a:solidFill>
                <a:latin typeface="Arial"/>
                <a:cs typeface="Arial"/>
              </a:rPr>
              <a:t>�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8320" y="511432"/>
            <a:ext cx="910590" cy="9836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9085" indent="-260985">
              <a:lnSpc>
                <a:spcPct val="100000"/>
              </a:lnSpc>
              <a:spcBef>
                <a:spcPts val="135"/>
              </a:spcBef>
              <a:buClr>
                <a:srgbClr val="1C1A1D"/>
              </a:buClr>
              <a:buSzPct val="33600"/>
              <a:buFont typeface="Arial"/>
              <a:buChar char="◊"/>
              <a:tabLst>
                <a:tab pos="299085" algn="l"/>
              </a:tabLst>
            </a:pPr>
            <a:r>
              <a:rPr dirty="0" baseline="-5777" sz="9375" spc="-1664" b="1">
                <a:solidFill>
                  <a:srgbClr val="1F8ECC"/>
                </a:solidFill>
                <a:latin typeface="Arial"/>
                <a:cs typeface="Arial"/>
              </a:rPr>
              <a:t>m</a:t>
            </a:r>
            <a:endParaRPr baseline="-5777" sz="9375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53675" y="327941"/>
            <a:ext cx="262890" cy="10833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950" spc="-515">
                <a:solidFill>
                  <a:srgbClr val="0F66A1"/>
                </a:solidFill>
                <a:latin typeface="Times New Roman"/>
                <a:cs typeface="Times New Roman"/>
              </a:rPr>
              <a:t>-</a:t>
            </a:r>
            <a:endParaRPr sz="6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36106" y="1452738"/>
            <a:ext cx="447675" cy="1327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9375" indent="-79375">
              <a:lnSpc>
                <a:spcPts val="1045"/>
              </a:lnSpc>
              <a:buClr>
                <a:srgbClr val="0E7BAA"/>
              </a:buClr>
              <a:buSzPct val="214285"/>
              <a:buChar char="•"/>
              <a:tabLst>
                <a:tab pos="79375" algn="l"/>
              </a:tabLst>
            </a:pPr>
            <a:r>
              <a:rPr dirty="0" sz="700" spc="-10">
                <a:solidFill>
                  <a:srgbClr val="1C1A1D"/>
                </a:solidFill>
                <a:latin typeface="Arial"/>
                <a:cs typeface="Arial"/>
              </a:rPr>
              <a:t>Atomistic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59868" y="1223794"/>
            <a:ext cx="7239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80">
                <a:solidFill>
                  <a:srgbClr val="1C1A1D"/>
                </a:solidFill>
                <a:latin typeface="Arial"/>
                <a:cs typeface="Arial"/>
              </a:rPr>
              <a:t>�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27917" y="1153314"/>
            <a:ext cx="13652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31111" sz="1875" spc="-1110">
                <a:solidFill>
                  <a:srgbClr val="183859"/>
                </a:solidFill>
                <a:latin typeface="Arial"/>
                <a:cs typeface="Arial"/>
              </a:rPr>
              <a:t>□</a:t>
            </a:r>
            <a:r>
              <a:rPr dirty="0" sz="600" spc="-75">
                <a:solidFill>
                  <a:srgbClr val="4F2D56"/>
                </a:solidFill>
                <a:latin typeface="Arial"/>
                <a:cs typeface="Arial"/>
              </a:rPr>
              <a:t>�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29941" y="1223794"/>
            <a:ext cx="7239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80">
                <a:solidFill>
                  <a:srgbClr val="1C1A1D"/>
                </a:solidFill>
                <a:latin typeface="Arial"/>
                <a:cs typeface="Arial"/>
              </a:rPr>
              <a:t>�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19116" y="1244351"/>
            <a:ext cx="29273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65">
                <a:solidFill>
                  <a:srgbClr val="2D2D31"/>
                </a:solidFill>
                <a:latin typeface="Arial"/>
                <a:cs typeface="Arial"/>
              </a:rPr>
              <a:t>□</a:t>
            </a:r>
            <a:r>
              <a:rPr dirty="0" sz="1250" spc="130">
                <a:solidFill>
                  <a:srgbClr val="2D2D31"/>
                </a:solidFill>
                <a:latin typeface="Arial"/>
                <a:cs typeface="Arial"/>
              </a:rPr>
              <a:t> </a:t>
            </a:r>
            <a:r>
              <a:rPr dirty="0" sz="1250" spc="-50">
                <a:solidFill>
                  <a:srgbClr val="2D2D31"/>
                </a:solidFill>
                <a:latin typeface="Arial"/>
                <a:cs typeface="Arial"/>
              </a:rPr>
              <a:t>□</a:t>
            </a:r>
            <a:endParaRPr sz="12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51572" y="1487269"/>
            <a:ext cx="211836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74015" marR="5080" indent="-361950">
              <a:lnSpc>
                <a:spcPct val="100000"/>
              </a:lnSpc>
              <a:spcBef>
                <a:spcPts val="105"/>
              </a:spcBef>
              <a:tabLst>
                <a:tab pos="1264920" algn="l"/>
              </a:tabLst>
            </a:pPr>
            <a:r>
              <a:rPr dirty="0" sz="700">
                <a:solidFill>
                  <a:srgbClr val="1C1A1D"/>
                </a:solidFill>
                <a:latin typeface="Arial"/>
                <a:cs typeface="Arial"/>
              </a:rPr>
              <a:t>Electron</a:t>
            </a:r>
            <a:r>
              <a:rPr dirty="0" sz="700" spc="-50">
                <a:solidFill>
                  <a:srgbClr val="1C1A1D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1C1A1D"/>
                </a:solidFill>
                <a:latin typeface="Arial"/>
                <a:cs typeface="Arial"/>
              </a:rPr>
              <a:t>Microscopy</a:t>
            </a:r>
            <a:r>
              <a:rPr dirty="0" sz="700" spc="-15">
                <a:solidFill>
                  <a:srgbClr val="1C1A1D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1C1A1D"/>
                </a:solidFill>
                <a:latin typeface="Arial"/>
                <a:cs typeface="Arial"/>
              </a:rPr>
              <a:t>(EM)</a:t>
            </a:r>
            <a:r>
              <a:rPr dirty="0" sz="700">
                <a:solidFill>
                  <a:srgbClr val="1C1A1D"/>
                </a:solidFill>
                <a:latin typeface="Arial"/>
                <a:cs typeface="Arial"/>
              </a:rPr>
              <a:t>	Journal</a:t>
            </a:r>
            <a:r>
              <a:rPr dirty="0" sz="700" spc="-20">
                <a:solidFill>
                  <a:srgbClr val="1C1A1D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1C1A1D"/>
                </a:solidFill>
                <a:latin typeface="Arial"/>
                <a:cs typeface="Arial"/>
              </a:rPr>
              <a:t>Articles</a:t>
            </a:r>
            <a:r>
              <a:rPr dirty="0" sz="700" spc="-30">
                <a:solidFill>
                  <a:srgbClr val="1C1A1D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1C1A1D"/>
                </a:solidFill>
                <a:latin typeface="Arial"/>
                <a:cs typeface="Arial"/>
              </a:rPr>
              <a:t>(.pdf)</a:t>
            </a:r>
            <a:r>
              <a:rPr dirty="0" sz="700" spc="500">
                <a:solidFill>
                  <a:srgbClr val="1C1A1D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1C1A1D"/>
                </a:solidFill>
                <a:latin typeface="Arial"/>
                <a:cs typeface="Arial"/>
              </a:rPr>
              <a:t>Images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77031" y="1487269"/>
            <a:ext cx="202565" cy="132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00" spc="-25">
                <a:solidFill>
                  <a:srgbClr val="1C1A1D"/>
                </a:solidFill>
                <a:latin typeface="Arial"/>
                <a:cs typeface="Arial"/>
              </a:rPr>
              <a:t>LLM</a:t>
            </a:r>
            <a:endParaRPr sz="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52431" y="1559471"/>
            <a:ext cx="476884" cy="132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00" spc="-10">
                <a:solidFill>
                  <a:srgbClr val="1C1A1D"/>
                </a:solidFill>
                <a:latin typeface="Arial"/>
                <a:cs typeface="Arial"/>
              </a:rPr>
              <a:t>Simulations</a:t>
            </a:r>
            <a:endParaRPr sz="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50713" y="1760054"/>
            <a:ext cx="10160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50">
                <a:solidFill>
                  <a:srgbClr val="1C1A1D"/>
                </a:solidFill>
                <a:latin typeface="Arial"/>
                <a:cs typeface="Arial"/>
              </a:rPr>
              <a:t>B</a:t>
            </a:r>
            <a:endParaRPr sz="8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27761" y="1867332"/>
            <a:ext cx="55562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1C1A1D"/>
                </a:solidFill>
                <a:latin typeface="Arial"/>
                <a:cs typeface="Arial"/>
              </a:rPr>
              <a:t>ROI</a:t>
            </a:r>
            <a:r>
              <a:rPr dirty="0" sz="600" spc="-20">
                <a:solidFill>
                  <a:srgbClr val="1C1A1D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C1A1D"/>
                </a:solidFill>
                <a:latin typeface="Arial"/>
                <a:cs typeface="Arial"/>
              </a:rPr>
              <a:t>EM</a:t>
            </a:r>
            <a:r>
              <a:rPr dirty="0" sz="600" spc="-25">
                <a:solidFill>
                  <a:srgbClr val="1C1A1D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C1A1D"/>
                </a:solidFill>
                <a:latin typeface="Arial"/>
                <a:cs typeface="Arial"/>
              </a:rPr>
              <a:t>images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61014" y="1646867"/>
            <a:ext cx="848994" cy="830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250" spc="35">
                <a:solidFill>
                  <a:srgbClr val="1C1A1D"/>
                </a:solidFill>
                <a:latin typeface="Arial"/>
                <a:cs typeface="Arial"/>
              </a:rPr>
              <a:t>■■</a:t>
            </a:r>
            <a:endParaRPr sz="52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96831" y="2369606"/>
            <a:ext cx="82359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35" b="1">
                <a:solidFill>
                  <a:srgbClr val="1C1A1D"/>
                </a:solidFill>
                <a:latin typeface="Arial"/>
                <a:cs typeface="Arial"/>
              </a:rPr>
              <a:t>Detecting</a:t>
            </a:r>
            <a:r>
              <a:rPr dirty="0" sz="600" spc="15" b="1">
                <a:solidFill>
                  <a:srgbClr val="1C1A1D"/>
                </a:solidFill>
                <a:latin typeface="Arial"/>
                <a:cs typeface="Arial"/>
              </a:rPr>
              <a:t> </a:t>
            </a:r>
            <a:r>
              <a:rPr dirty="0" sz="600" spc="-30" b="1">
                <a:solidFill>
                  <a:srgbClr val="1C1A1D"/>
                </a:solidFill>
                <a:latin typeface="Arial"/>
                <a:cs typeface="Arial"/>
              </a:rPr>
              <a:t>lattice</a:t>
            </a:r>
            <a:r>
              <a:rPr dirty="0" sz="600" spc="25" b="1">
                <a:solidFill>
                  <a:srgbClr val="1C1A1D"/>
                </a:solidFill>
                <a:latin typeface="Arial"/>
                <a:cs typeface="Arial"/>
              </a:rPr>
              <a:t> </a:t>
            </a:r>
            <a:r>
              <a:rPr dirty="0" sz="600" spc="-25" b="1">
                <a:solidFill>
                  <a:srgbClr val="2D2D31"/>
                </a:solidFill>
                <a:latin typeface="Arial"/>
                <a:cs typeface="Arial"/>
              </a:rPr>
              <a:t>vectors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66006" y="2178594"/>
            <a:ext cx="661670" cy="746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700" spc="-370">
                <a:solidFill>
                  <a:srgbClr val="2D2D31"/>
                </a:solidFill>
                <a:latin typeface="Arial"/>
                <a:cs typeface="Arial"/>
              </a:rPr>
              <a:t>■■</a:t>
            </a:r>
            <a:endParaRPr sz="4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42570" y="1794476"/>
            <a:ext cx="1302385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430">
                <a:solidFill>
                  <a:srgbClr val="1C1A1D"/>
                </a:solidFill>
                <a:latin typeface="Arial"/>
                <a:cs typeface="Arial"/>
              </a:rPr>
              <a:t>c</a:t>
            </a:r>
            <a:r>
              <a:rPr dirty="0" sz="900" spc="430">
                <a:solidFill>
                  <a:srgbClr val="0544CF"/>
                </a:solidFill>
                <a:latin typeface="Arial"/>
                <a:cs typeface="Arial"/>
              </a:rPr>
              <a:t>:-</a:t>
            </a:r>
            <a:r>
              <a:rPr dirty="0" sz="900" spc="385">
                <a:solidFill>
                  <a:srgbClr val="0544CF"/>
                </a:solidFill>
                <a:latin typeface="Arial"/>
                <a:cs typeface="Arial"/>
              </a:rPr>
              <a:t>--</a:t>
            </a:r>
            <a:r>
              <a:rPr dirty="0" sz="900" spc="385">
                <a:solidFill>
                  <a:srgbClr val="0149ED"/>
                </a:solidFill>
                <a:latin typeface="Arial"/>
                <a:cs typeface="Arial"/>
              </a:rPr>
              <a:t>-------</a:t>
            </a:r>
            <a:r>
              <a:rPr dirty="0" sz="900" spc="660">
                <a:solidFill>
                  <a:srgbClr val="0149ED"/>
                </a:solidFill>
                <a:latin typeface="Arial"/>
                <a:cs typeface="Arial"/>
              </a:rPr>
              <a:t>�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45766" y="1939533"/>
            <a:ext cx="1273810" cy="394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5410">
              <a:lnSpc>
                <a:spcPts val="655"/>
              </a:lnSpc>
              <a:spcBef>
                <a:spcPts val="100"/>
              </a:spcBef>
            </a:pPr>
            <a:r>
              <a:rPr dirty="0" sz="600" spc="-35" b="1">
                <a:solidFill>
                  <a:srgbClr val="1C1A1D"/>
                </a:solidFill>
                <a:latin typeface="Arial"/>
                <a:cs typeface="Arial"/>
              </a:rPr>
              <a:t>Materials</a:t>
            </a:r>
            <a:r>
              <a:rPr dirty="0" sz="600" spc="80" b="1">
                <a:solidFill>
                  <a:srgbClr val="1C1A1D"/>
                </a:solidFill>
                <a:latin typeface="Arial"/>
                <a:cs typeface="Arial"/>
              </a:rPr>
              <a:t> </a:t>
            </a:r>
            <a:r>
              <a:rPr dirty="0" sz="600" spc="-45" b="1">
                <a:solidFill>
                  <a:srgbClr val="2D2D31"/>
                </a:solidFill>
                <a:latin typeface="Arial"/>
                <a:cs typeface="Arial"/>
              </a:rPr>
              <a:t>with</a:t>
            </a:r>
            <a:r>
              <a:rPr dirty="0" sz="600" spc="40" b="1">
                <a:solidFill>
                  <a:srgbClr val="2D2D31"/>
                </a:solidFill>
                <a:latin typeface="Arial"/>
                <a:cs typeface="Arial"/>
              </a:rPr>
              <a:t> </a:t>
            </a:r>
            <a:r>
              <a:rPr dirty="0" sz="600" spc="-35" b="1">
                <a:solidFill>
                  <a:srgbClr val="1C1A1D"/>
                </a:solidFill>
                <a:latin typeface="Arial"/>
                <a:cs typeface="Arial"/>
              </a:rPr>
              <a:t>multi-</a:t>
            </a:r>
            <a:r>
              <a:rPr dirty="0" sz="600" spc="-10" b="1">
                <a:solidFill>
                  <a:srgbClr val="1C1A1D"/>
                </a:solidFill>
                <a:latin typeface="Arial"/>
                <a:cs typeface="Arial"/>
              </a:rPr>
              <a:t>dimensions:</a:t>
            </a:r>
            <a:endParaRPr sz="600">
              <a:latin typeface="Arial"/>
              <a:cs typeface="Arial"/>
            </a:endParaRPr>
          </a:p>
          <a:p>
            <a:pPr marL="72390">
              <a:lnSpc>
                <a:spcPts val="745"/>
              </a:lnSpc>
            </a:pPr>
            <a:r>
              <a:rPr dirty="0" sz="750" b="1">
                <a:solidFill>
                  <a:srgbClr val="05B30C"/>
                </a:solidFill>
                <a:latin typeface="Arial"/>
                <a:cs typeface="Arial"/>
              </a:rPr>
              <a:t>LI</a:t>
            </a:r>
            <a:r>
              <a:rPr dirty="0" sz="600">
                <a:solidFill>
                  <a:srgbClr val="2D2D31"/>
                </a:solidFill>
                <a:latin typeface="Arial"/>
                <a:cs typeface="Arial"/>
              </a:rPr>
              <a:t>(1D)</a:t>
            </a:r>
            <a:r>
              <a:rPr dirty="0" sz="600" spc="35">
                <a:solidFill>
                  <a:srgbClr val="2D2D31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C1A1D"/>
                </a:solidFill>
                <a:latin typeface="Arial"/>
                <a:cs typeface="Arial"/>
              </a:rPr>
              <a:t>Nanotube</a:t>
            </a:r>
            <a:endParaRPr sz="600">
              <a:latin typeface="Arial"/>
              <a:cs typeface="Arial"/>
            </a:endParaRPr>
          </a:p>
          <a:p>
            <a:pPr marL="72390">
              <a:lnSpc>
                <a:spcPts val="705"/>
              </a:lnSpc>
            </a:pPr>
            <a:r>
              <a:rPr dirty="0" sz="750" b="1">
                <a:solidFill>
                  <a:srgbClr val="05B30C"/>
                </a:solidFill>
                <a:latin typeface="Arial"/>
                <a:cs typeface="Arial"/>
              </a:rPr>
              <a:t>LI</a:t>
            </a:r>
            <a:r>
              <a:rPr dirty="0" sz="600">
                <a:solidFill>
                  <a:srgbClr val="2D2D31"/>
                </a:solidFill>
                <a:latin typeface="Arial"/>
                <a:cs typeface="Arial"/>
              </a:rPr>
              <a:t>(2D)</a:t>
            </a:r>
            <a:r>
              <a:rPr dirty="0" sz="600" spc="10">
                <a:solidFill>
                  <a:srgbClr val="2D2D31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C1A1D"/>
                </a:solidFill>
                <a:latin typeface="Arial"/>
                <a:cs typeface="Arial"/>
              </a:rPr>
              <a:t>Electronic</a:t>
            </a:r>
            <a:r>
              <a:rPr dirty="0" sz="600" spc="50">
                <a:solidFill>
                  <a:srgbClr val="1C1A1D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C1A1D"/>
                </a:solidFill>
                <a:latin typeface="Arial"/>
                <a:cs typeface="Arial"/>
              </a:rPr>
              <a:t>materials</a:t>
            </a:r>
            <a:endParaRPr sz="600">
              <a:latin typeface="Arial"/>
              <a:cs typeface="Arial"/>
            </a:endParaRPr>
          </a:p>
          <a:p>
            <a:pPr marL="72390">
              <a:lnSpc>
                <a:spcPts val="795"/>
              </a:lnSpc>
            </a:pPr>
            <a:r>
              <a:rPr dirty="0" sz="750" b="1">
                <a:solidFill>
                  <a:srgbClr val="05B30C"/>
                </a:solidFill>
                <a:latin typeface="Arial"/>
                <a:cs typeface="Arial"/>
              </a:rPr>
              <a:t>LI</a:t>
            </a:r>
            <a:r>
              <a:rPr dirty="0" sz="600">
                <a:solidFill>
                  <a:srgbClr val="2D2D31"/>
                </a:solidFill>
                <a:latin typeface="Arial"/>
                <a:cs typeface="Arial"/>
              </a:rPr>
              <a:t>(3D)</a:t>
            </a:r>
            <a:r>
              <a:rPr dirty="0" sz="600" spc="-35">
                <a:solidFill>
                  <a:srgbClr val="2D2D31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C1A1D"/>
                </a:solidFill>
                <a:latin typeface="Arial"/>
                <a:cs typeface="Arial"/>
              </a:rPr>
              <a:t>Energy</a:t>
            </a:r>
            <a:r>
              <a:rPr dirty="0" sz="600" spc="20">
                <a:solidFill>
                  <a:srgbClr val="1C1A1D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2D2D31"/>
                </a:solidFill>
                <a:latin typeface="Arial"/>
                <a:cs typeface="Arial"/>
              </a:rPr>
              <a:t>storage </a:t>
            </a:r>
            <a:r>
              <a:rPr dirty="0" sz="600" spc="-10">
                <a:solidFill>
                  <a:srgbClr val="1C1A1D"/>
                </a:solidFill>
                <a:latin typeface="Arial"/>
                <a:cs typeface="Arial"/>
              </a:rPr>
              <a:t>materials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46528" y="1760054"/>
            <a:ext cx="1079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50">
                <a:solidFill>
                  <a:srgbClr val="1C1A1D"/>
                </a:solidFill>
                <a:latin typeface="Arial"/>
                <a:cs typeface="Arial"/>
              </a:rPr>
              <a:t>D</a:t>
            </a:r>
            <a:endParaRPr sz="8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21218" y="1933256"/>
            <a:ext cx="71310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720"/>
              </a:lnSpc>
              <a:spcBef>
                <a:spcPts val="100"/>
              </a:spcBef>
            </a:pPr>
            <a:r>
              <a:rPr dirty="0" sz="600" spc="-45" b="1">
                <a:solidFill>
                  <a:srgbClr val="2D2D31"/>
                </a:solidFill>
                <a:latin typeface="Arial"/>
                <a:cs typeface="Arial"/>
              </a:rPr>
              <a:t>Structure</a:t>
            </a:r>
            <a:r>
              <a:rPr dirty="0" sz="600" spc="35" b="1">
                <a:solidFill>
                  <a:srgbClr val="2D2D31"/>
                </a:solidFill>
                <a:latin typeface="Arial"/>
                <a:cs typeface="Arial"/>
              </a:rPr>
              <a:t> </a:t>
            </a:r>
            <a:r>
              <a:rPr dirty="0" sz="600" spc="-25" b="1">
                <a:solidFill>
                  <a:srgbClr val="2D2D31"/>
                </a:solidFill>
                <a:latin typeface="Arial"/>
                <a:cs typeface="Arial"/>
              </a:rPr>
              <a:t>information</a:t>
            </a:r>
            <a:endParaRPr sz="600">
              <a:latin typeface="Arial"/>
              <a:cs typeface="Arial"/>
            </a:endParaRPr>
          </a:p>
          <a:p>
            <a:pPr algn="ctr" marL="6350">
              <a:lnSpc>
                <a:spcPts val="720"/>
              </a:lnSpc>
            </a:pPr>
            <a:r>
              <a:rPr dirty="0" sz="600" spc="-10">
                <a:solidFill>
                  <a:srgbClr val="2D2D31"/>
                </a:solidFill>
                <a:latin typeface="Arial"/>
                <a:cs typeface="Arial"/>
              </a:rPr>
              <a:t>(CIFfile)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31923" y="1760054"/>
            <a:ext cx="10223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50">
                <a:solidFill>
                  <a:srgbClr val="1C1A1D"/>
                </a:solidFill>
                <a:latin typeface="Arial"/>
                <a:cs typeface="Arial"/>
              </a:rPr>
              <a:t>E</a:t>
            </a:r>
            <a:endParaRPr sz="8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75006" y="2535984"/>
            <a:ext cx="60896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30" b="1">
                <a:solidFill>
                  <a:srgbClr val="1C1A1D"/>
                </a:solidFill>
                <a:latin typeface="Arial"/>
                <a:cs typeface="Arial"/>
              </a:rPr>
              <a:t>Internal</a:t>
            </a:r>
            <a:r>
              <a:rPr dirty="0" sz="600" spc="20" b="1">
                <a:solidFill>
                  <a:srgbClr val="1C1A1D"/>
                </a:solidFill>
                <a:latin typeface="Arial"/>
                <a:cs typeface="Arial"/>
              </a:rPr>
              <a:t> </a:t>
            </a:r>
            <a:r>
              <a:rPr dirty="0" sz="600" spc="-35" b="1">
                <a:solidFill>
                  <a:srgbClr val="2D2D31"/>
                </a:solidFill>
                <a:latin typeface="Arial"/>
                <a:cs typeface="Arial"/>
              </a:rPr>
              <a:t>validation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091795" y="2738345"/>
            <a:ext cx="436880" cy="0"/>
          </a:xfrm>
          <a:custGeom>
            <a:avLst/>
            <a:gdLst/>
            <a:ahLst/>
            <a:cxnLst/>
            <a:rect l="l" t="t" r="r" b="b"/>
            <a:pathLst>
              <a:path w="436879" h="0">
                <a:moveTo>
                  <a:pt x="0" y="0"/>
                </a:moveTo>
                <a:lnTo>
                  <a:pt x="436628" y="0"/>
                </a:lnTo>
              </a:path>
            </a:pathLst>
          </a:custGeom>
          <a:ln w="12774">
            <a:solidFill>
              <a:srgbClr val="9993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053694" y="2258862"/>
            <a:ext cx="711200" cy="509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12725">
              <a:lnSpc>
                <a:spcPts val="1030"/>
              </a:lnSpc>
              <a:spcBef>
                <a:spcPts val="105"/>
              </a:spcBef>
            </a:pPr>
            <a:r>
              <a:rPr dirty="0" baseline="50925" sz="900" spc="-135" b="1">
                <a:solidFill>
                  <a:srgbClr val="1C1A1D"/>
                </a:solidFill>
                <a:latin typeface="Arial"/>
                <a:cs typeface="Arial"/>
              </a:rPr>
              <a:t>P</a:t>
            </a:r>
            <a:r>
              <a:rPr dirty="0" sz="1000" spc="-90">
                <a:solidFill>
                  <a:srgbClr val="4431A8"/>
                </a:solidFill>
                <a:latin typeface="Arial"/>
                <a:cs typeface="Arial"/>
              </a:rPr>
              <a:t>.</a:t>
            </a:r>
            <a:r>
              <a:rPr dirty="0" baseline="50925" sz="900" spc="-135" b="1">
                <a:solidFill>
                  <a:srgbClr val="1C1A1D"/>
                </a:solidFill>
                <a:latin typeface="Arial"/>
                <a:cs typeface="Arial"/>
              </a:rPr>
              <a:t>r</a:t>
            </a:r>
            <a:r>
              <a:rPr dirty="0" sz="1000" spc="-90">
                <a:solidFill>
                  <a:srgbClr val="4431A8"/>
                </a:solidFill>
                <a:latin typeface="Arial"/>
                <a:cs typeface="Arial"/>
              </a:rPr>
              <a:t>.</a:t>
            </a:r>
            <a:r>
              <a:rPr dirty="0" baseline="50925" sz="900" spc="-135" b="1">
                <a:solidFill>
                  <a:srgbClr val="1C1A1D"/>
                </a:solidFill>
                <a:latin typeface="Arial"/>
                <a:cs typeface="Arial"/>
              </a:rPr>
              <a:t>is</a:t>
            </a:r>
            <a:r>
              <a:rPr dirty="0" sz="1000" spc="-90">
                <a:solidFill>
                  <a:srgbClr val="4431A8"/>
                </a:solidFill>
                <a:latin typeface="Arial"/>
                <a:cs typeface="Arial"/>
              </a:rPr>
              <a:t>.</a:t>
            </a:r>
            <a:r>
              <a:rPr dirty="0" baseline="50925" sz="900" spc="-135" b="1">
                <a:solidFill>
                  <a:srgbClr val="1C1A1D"/>
                </a:solidFill>
                <a:latin typeface="Arial"/>
                <a:cs typeface="Arial"/>
              </a:rPr>
              <a:t>t</a:t>
            </a:r>
            <a:r>
              <a:rPr dirty="0" sz="1000" spc="-90">
                <a:solidFill>
                  <a:srgbClr val="4431A8"/>
                </a:solidFill>
                <a:latin typeface="Arial"/>
                <a:cs typeface="Arial"/>
              </a:rPr>
              <a:t>.</a:t>
            </a:r>
            <a:r>
              <a:rPr dirty="0" baseline="50925" sz="900" spc="-135" b="1">
                <a:solidFill>
                  <a:srgbClr val="1C1A1D"/>
                </a:solidFill>
                <a:latin typeface="Arial"/>
                <a:cs typeface="Arial"/>
              </a:rPr>
              <a:t>i</a:t>
            </a:r>
            <a:r>
              <a:rPr dirty="0" sz="1000" spc="-90">
                <a:solidFill>
                  <a:srgbClr val="4431A8"/>
                </a:solidFill>
                <a:latin typeface="Arial"/>
                <a:cs typeface="Arial"/>
              </a:rPr>
              <a:t>.</a:t>
            </a:r>
            <a:r>
              <a:rPr dirty="0" baseline="50925" sz="900" spc="-135" b="1">
                <a:solidFill>
                  <a:srgbClr val="1C1A1D"/>
                </a:solidFill>
                <a:latin typeface="Arial"/>
                <a:cs typeface="Arial"/>
              </a:rPr>
              <a:t>n</a:t>
            </a:r>
            <a:r>
              <a:rPr dirty="0" sz="1000" spc="-90">
                <a:solidFill>
                  <a:srgbClr val="4431A8"/>
                </a:solidFill>
                <a:latin typeface="Arial"/>
                <a:cs typeface="Arial"/>
              </a:rPr>
              <a:t>.</a:t>
            </a:r>
            <a:r>
              <a:rPr dirty="0" baseline="50925" sz="900" spc="-135" b="1">
                <a:solidFill>
                  <a:srgbClr val="1C1A1D"/>
                </a:solidFill>
                <a:latin typeface="Arial"/>
                <a:cs typeface="Arial"/>
              </a:rPr>
              <a:t>e</a:t>
            </a:r>
            <a:r>
              <a:rPr dirty="0" sz="1000" spc="-90">
                <a:solidFill>
                  <a:srgbClr val="4431A8"/>
                </a:solidFill>
                <a:latin typeface="Arial"/>
                <a:cs typeface="Arial"/>
              </a:rPr>
              <a:t>......</a:t>
            </a:r>
            <a:endParaRPr sz="1000">
              <a:latin typeface="Arial"/>
              <a:cs typeface="Arial"/>
            </a:endParaRPr>
          </a:p>
          <a:p>
            <a:pPr marL="93345">
              <a:lnSpc>
                <a:spcPts val="2020"/>
              </a:lnSpc>
            </a:pPr>
            <a:r>
              <a:rPr dirty="0" sz="1850" spc="-330">
                <a:solidFill>
                  <a:srgbClr val="3821BA"/>
                </a:solidFill>
                <a:latin typeface="Arial"/>
                <a:cs typeface="Arial"/>
              </a:rPr>
              <a:t>_.</a:t>
            </a:r>
            <a:r>
              <a:rPr dirty="0" sz="1850" spc="-330">
                <a:solidFill>
                  <a:srgbClr val="1C0597"/>
                </a:solidFill>
                <a:latin typeface="Arial"/>
                <a:cs typeface="Arial"/>
              </a:rPr>
              <a:t>_</a:t>
            </a:r>
            <a:r>
              <a:rPr dirty="0" sz="1850" spc="-330">
                <a:solidFill>
                  <a:srgbClr val="4431A8"/>
                </a:solidFill>
                <a:latin typeface="Arial"/>
                <a:cs typeface="Arial"/>
              </a:rPr>
              <a:t>::</a:t>
            </a:r>
            <a:r>
              <a:rPr dirty="0" sz="1850" spc="-330">
                <a:solidFill>
                  <a:srgbClr val="1C0597"/>
                </a:solidFill>
                <a:latin typeface="Arial"/>
                <a:cs typeface="Arial"/>
              </a:rPr>
              <a:t>:</a:t>
            </a:r>
            <a:r>
              <a:rPr dirty="0" sz="1850" spc="-330">
                <a:solidFill>
                  <a:srgbClr val="8E2842"/>
                </a:solidFill>
                <a:latin typeface="Arial"/>
                <a:cs typeface="Arial"/>
              </a:rPr>
              <a:t>(</a:t>
            </a:r>
            <a:r>
              <a:rPr dirty="0" sz="1850" spc="-330">
                <a:solidFill>
                  <a:srgbClr val="A33321"/>
                </a:solidFill>
                <a:latin typeface="Arial"/>
                <a:cs typeface="Arial"/>
              </a:rPr>
              <a:t>£t§</a:t>
            </a:r>
            <a:r>
              <a:rPr dirty="0" sz="1850" spc="-330">
                <a:solidFill>
                  <a:srgbClr val="8E2842"/>
                </a:solidFill>
                <a:latin typeface="Arial"/>
                <a:cs typeface="Arial"/>
              </a:rPr>
              <a:t>t</a:t>
            </a:r>
            <a:r>
              <a:rPr dirty="0" sz="1850" spc="-330">
                <a:solidFill>
                  <a:srgbClr val="4431A8"/>
                </a:solidFill>
                <a:latin typeface="Arial"/>
                <a:cs typeface="Arial"/>
              </a:rPr>
              <a:t>:</a:t>
            </a:r>
            <a:endParaRPr sz="1850">
              <a:latin typeface="Arial"/>
              <a:cs typeface="Arial"/>
            </a:endParaRPr>
          </a:p>
          <a:p>
            <a:pPr marL="38100">
              <a:lnSpc>
                <a:spcPts val="750"/>
              </a:lnSpc>
            </a:pPr>
            <a:r>
              <a:rPr dirty="0" sz="650" spc="50" i="1">
                <a:solidFill>
                  <a:srgbClr val="C1C1C1"/>
                </a:solidFill>
                <a:latin typeface="Arial"/>
                <a:cs typeface="Arial"/>
              </a:rPr>
              <a:t>,</a:t>
            </a:r>
            <a:r>
              <a:rPr dirty="0" sz="650" spc="50" i="1">
                <a:solidFill>
                  <a:srgbClr val="4431A8"/>
                </a:solidFill>
                <a:latin typeface="Arial"/>
                <a:cs typeface="Arial"/>
              </a:rPr>
              <a:t>·:::·:::</a:t>
            </a:r>
            <a:r>
              <a:rPr dirty="0" sz="650" spc="50" i="1">
                <a:solidFill>
                  <a:srgbClr val="3A31D1"/>
                </a:solidFill>
                <a:latin typeface="Arial"/>
                <a:cs typeface="Arial"/>
              </a:rPr>
              <a:t>·</a:t>
            </a:r>
            <a:r>
              <a:rPr dirty="0" sz="650" spc="50" i="1">
                <a:solidFill>
                  <a:srgbClr val="4431A8"/>
                </a:solidFill>
                <a:latin typeface="Arial"/>
                <a:cs typeface="Arial"/>
              </a:rPr>
              <a:t>::.</a:t>
            </a:r>
            <a:r>
              <a:rPr dirty="0" sz="650" spc="50" i="1">
                <a:solidFill>
                  <a:srgbClr val="9993B8"/>
                </a:solidFill>
                <a:latin typeface="Arial"/>
                <a:cs typeface="Arial"/>
              </a:rPr>
              <a:t>1/</a:t>
            </a:r>
            <a:endParaRPr sz="6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34216" y="2755729"/>
            <a:ext cx="35814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40" b="1">
                <a:solidFill>
                  <a:srgbClr val="A8463B"/>
                </a:solidFill>
                <a:latin typeface="Arial"/>
                <a:cs typeface="Arial"/>
              </a:rPr>
              <a:t>Vacancies</a:t>
            </a:r>
            <a:endParaRPr sz="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66645" y="1760054"/>
            <a:ext cx="11557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50">
                <a:solidFill>
                  <a:srgbClr val="1C1A1D"/>
                </a:solidFill>
                <a:latin typeface="Arial"/>
                <a:cs typeface="Arial"/>
              </a:rPr>
              <a:t>G</a:t>
            </a:r>
            <a:endParaRPr sz="8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60548" y="2762009"/>
            <a:ext cx="47180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>
                <a:solidFill>
                  <a:srgbClr val="1C1A1D"/>
                </a:solidFill>
                <a:latin typeface="Arial"/>
                <a:cs typeface="Arial"/>
              </a:rPr>
              <a:t>Layered</a:t>
            </a:r>
            <a:r>
              <a:rPr dirty="0" sz="600" spc="35">
                <a:solidFill>
                  <a:srgbClr val="1C1A1D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1C1A1D"/>
                </a:solidFill>
                <a:latin typeface="Arial"/>
                <a:cs typeface="Arial"/>
              </a:rPr>
              <a:t>LCO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2026-05-07T10:11:46Z</dcterms:created>
  <dcterms:modified xsi:type="dcterms:W3CDTF">2026-05-07T10:11:46Z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2026-05-06T00:00:00Z</vt:filetime>
  </property>
  <property fmtid="{D5CDD505-2E9C-101B-9397-08002B2CF9AE}" pid="3" name="Creator">
    <vt:lpwstr>LaTeX with hyperref</vt:lpwstr>
  </property>
  <property fmtid="{D5CDD505-2E9C-101B-9397-08002B2CF9AE}" pid="4" name="LastSaved">
    <vt:filetime>2026-05-07T00:00:00Z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